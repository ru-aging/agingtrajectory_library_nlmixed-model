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56"/>
  </p:normalViewPr>
  <p:slideViewPr>
    <p:cSldViewPr snapToGrid="0" snapToObjects="1">
      <p:cViewPr varScale="1">
        <p:scale>
          <a:sx n="125" d="100"/>
          <a:sy n="125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45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Group-Based Trajectory Modeling (GBTM) SAS Macros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789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BB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 + Ordinal-Probit + </a:t>
            </a:r>
            <a:r>
              <a:rPr lang="en-US" dirty="0">
                <a:solidFill>
                  <a:srgbClr val="CBE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outcome + zero-inflated negative binomial (ZINB) </a:t>
            </a:r>
            <a:r>
              <a:rPr lang="en-US" sz="1800" dirty="0">
                <a:solidFill>
                  <a:srgbClr val="BB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(simulate → fit → plot) | IFH analyst test brief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3832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7675" y="43662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from testing: fit tables (AIC/BIC), trajectory plots, and notes from edge cases.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macros do (at a glance)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Single-run pipelines in PROC NLMIXED that start from wide data and end with tables + plots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514600" cy="8229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(optional)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%sim_data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73552" y="1280160"/>
            <a:ext cx="17373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2514600" cy="8229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wide table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BASE_FILE_SRS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16752" y="1280160"/>
            <a:ext cx="17373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0" y="1005840"/>
            <a:ext cx="2514600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K-class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NLMIXED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59952" y="1280160"/>
            <a:ext cx="173736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0" y="1005840"/>
            <a:ext cx="2514600" cy="822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+ fit tables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2916936" cy="31089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 trajectories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3218688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 trajectories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 macro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62072"/>
            <a:ext cx="5577840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integer counts per time point (wide)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Mixture: class-specific mean + zero inflation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starting values via %let (unset → 0)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pe_zip (ParameterEstimates), fit_zip (FitStatistics), plots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 macro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862072"/>
            <a:ext cx="5029200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ordered categories (e.g., 0–3)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mixing intercept fixed to 0 (identifiability)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PARMS statement (defaults + overrides)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prefix_EST_Kk, prefix_FIT_Kk, prefix_ESTS_Kk + plots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 (wide format)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expect 1 row per person with repeated measures in columns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2212848" cy="31089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 input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columns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19072"/>
            <a:ext cx="55778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BENE_ID (or pass id=)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SUM_Q1 … SUM_QT (integer counts)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allowed as . (likelihood skips missing)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args to align: T=, yvars=, nclass=, class_labels=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46520" y="960120"/>
            <a:ext cx="2514600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652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columns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719072"/>
            <a:ext cx="502920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BENE_ID (or pass id=)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Outcomes: Y1_1 … Y1_T (ordinal)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index: quar1…quarT values 0..T-1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values must be listed in ycodes=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prep snippet (ordinal):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4160520"/>
            <a:ext cx="5029200" cy="2468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BASE_FILE_SRS;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MY_WIDE;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 quar[12] quar1-quar12;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i=1 to 12; quar[i]=i-1; end;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drop i;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rename my_id = BENE_ID;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outputs (plots)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formats produced by the macros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Continuous-style multi-class curves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4652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Plot</a:t>
            </a:r>
            <a:endParaRPr lang="en-US" sz="1400" dirty="0"/>
          </a:p>
        </p:txBody>
      </p:sp>
      <p:pic>
        <p:nvPicPr>
          <p:cNvPr id="5" name="Image 0" descr="/mnt/data/Screenshot 2026-02-06 at 8.42.40 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0653"/>
            <a:ext cx="5577840" cy="3528255"/>
          </a:xfrm>
          <a:prstGeom prst="rect">
            <a:avLst/>
          </a:prstGeom>
        </p:spPr>
      </p:pic>
      <p:pic>
        <p:nvPicPr>
          <p:cNvPr id="6" name="Image 1" descr="/mnt/data/Screenshot 2026-02-06 at 8.42.24 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31505"/>
            <a:ext cx="5029200" cy="3646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start: run on simulated data (recommended for testing)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simulate → fit → plot end-to-end before using real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2212848" cy="31089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 (sim)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46520" y="960120"/>
            <a:ext cx="2514600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 (sim)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577840" cy="5349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1) Create toy data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%sim_data(dist=BIN4, class=4, n=5000, T=12, seed=1);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2) Build BASE_FILE_SRS (Section [B] template)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ensures BENE_ID and SUM_Q1-SUM_Q12 exist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3) Fit 4-class, then plot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%ct_zip_pois_nlmixed(nclass=4, class_labels=A B C D, T=12);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%ct_zip_plots(pe=pe_zip, T=12);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1325880"/>
            <a:ext cx="5029200" cy="5349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1) Create toy ordinal data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%sim_data(dist=BIN4, class=4, n=2000, T=12, seed=1, cap=4);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2) Build BASE_FILE_SRS (quar1..quar12, BENE_ID)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%build_base_from_simwide(T=12);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3) Fit + plot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%let K=4; %let M=4; %let DEG=2;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%ordprob_mix_fit_one(k=&amp;K, m=&amp;M, deg=&amp;DEG, qpoints=40, prefix=ordprob_K4);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%ordprob_mix_plot_one(k=&amp;K, ttotal=12, m=&amp;M, prefix=ordprob_K4);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your data (what to change)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wide dataset + outcome column spans; keep the rest identical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Poisson: replace data= / id= / yvars= / T=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4652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Ordinal-probit: replace data= / id= / yvars= / tvars= and set ycodes=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577840" cy="26517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%ct_zip_pois_nlmixed(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data=MY_WIDE,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id=person_id,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yvars=cnt_t1-cnt_t12,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T=12,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nclass=6, class_labels=A B C D E F,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order=2, p_order=0,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bounds=... optional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%ct_zip_plots(pe=pe_zip, T=12);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1280160"/>
            <a:ext cx="5029200" cy="30632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  <a:effectLst>
            <a:outerShdw blurRad="38100" dist="12700" dir="27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%ordprob_mix_fit_one(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data=MY_WIDE, id=person_id,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yvars=ord_t1-ord_t12,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tvars=quar1-quar12, ttotal=12,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m=4, ycodes=0 1 2 3,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deg=2, k=6, qpoints=40,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start_values=, bounds=,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outestlib=work, prefix=ordprob_K6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%ordprob_mix_plot_one(prefix=ordprob_K6, k=6, ttotal=12, m=4, ycodes=0 1 2 3);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10744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before fitting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828032"/>
            <a:ext cx="1074420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data has exactly T outcome columns and an ID column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outcomes are integer counts; Ordinal outcomes are within ycodes=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class_labels length matches nclass (ZIP) / k (Ordinal)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values optional: defaults are safe; override only what you need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test plan (small + focused)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4- and 6-class models + selected edge cases; record test IDs + log snippets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3383280" cy="384048"/>
          </a:xfrm>
          <a:prstGeom prst="rect">
            <a:avLst/>
          </a:prstGeom>
          <a:solidFill>
            <a:srgbClr val="0B2F4A"/>
          </a:solidFill>
          <a:ln>
            <a:solidFill>
              <a:srgbClr val="0B2F4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G01  PROC NLMIXED + ODS Graphics run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02536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G02  WORK writable (no permission/disk issues)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960120"/>
            <a:ext cx="3383280" cy="38404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417320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Z06  4-class fit + plots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2002536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Z07  6-class fit (example config)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2587752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Z11  Missing Y values skipped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3172968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Z12  Export PNG via ODS HTML5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758184"/>
            <a:ext cx="33832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Z15  bounds= stabilizes tricky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960120"/>
            <a:ext cx="3639312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8120" y="1417320"/>
            <a:ext cx="3639312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O03  4-class fit + plotting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002536"/>
            <a:ext cx="3639312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O04  6-class 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2587752"/>
            <a:ext cx="3639312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O06  Category mismatch behavior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3172968"/>
            <a:ext cx="3639312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O08  start_values override works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63550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the 4-class model first; if it converges and plots, move to 6-class.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713232"/>
          </a:xfrm>
          <a:prstGeom prst="rect">
            <a:avLst/>
          </a:prstGeom>
          <a:solidFill>
            <a:srgbClr val="0B2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will testing take? (realistic estimate)
</a:t>
            </a: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Ballpark ranges; actual time depends on hardware, N, T, convergence, and qpoints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analyst time (typical)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53312"/>
            <a:ext cx="5577840" cy="427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sanity checks (G01–G02): 15–30 min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ZIP 4/6-class + confirm outputs: 20–40 min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Ordinal 4/6-class + confirm outputs: 30–60 min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+ note logs: 30–60 min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results (logs + screenshots): 10–20 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(wall-clock) time (sequential runs)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46520" y="1353312"/>
            <a:ext cx="502920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Poisson (qpoints=1): 4-class ~2–10 min; 6-class ~5–25 min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Ordinal-probit (often slower, e.g., qpoints=40): 4-class ~10–45 min; 6-class ~20–90 min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compute: ~40 min to ~2.5 hours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4892040"/>
            <a:ext cx="5029200" cy="105156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stretch runtime: larger N, more time points, extreme starts, near-empty classes, and higher qpoints. If possible, run K=4 first, then K=6.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1307</Words>
  <Application>Microsoft Macintosh PowerPoint</Application>
  <PresentationFormat>Widescreen</PresentationFormat>
  <Paragraphs>134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Prepared with ChatGPT</dc:creator>
  <cp:lastModifiedBy>Anum Zafar</cp:lastModifiedBy>
  <cp:revision>2</cp:revision>
  <dcterms:created xsi:type="dcterms:W3CDTF">2026-02-06T14:05:11Z</dcterms:created>
  <dcterms:modified xsi:type="dcterms:W3CDTF">2026-02-09T15:46:54Z</dcterms:modified>
</cp:coreProperties>
</file>